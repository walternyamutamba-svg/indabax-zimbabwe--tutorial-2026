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64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6400"/>
                </a:solidFill>
                <a:latin typeface="Arial"/>
              </a:rPr>
              <a:t>Job Category Distribution (n=611)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6B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B6-4D69-AC81-8DACDA1294A7}"/>
              </c:ext>
            </c:extLst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B6-4D69-AC81-8DACDA1294A7}"/>
              </c:ext>
            </c:extLst>
          </c:dPt>
          <c:dPt>
            <c:idx val="2"/>
            <c:invertIfNegative val="0"/>
            <c:bubble3D val="0"/>
            <c:spPr>
              <a:solidFill>
                <a:srgbClr val="388E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B6-4D69-AC81-8DACDA1294A7}"/>
              </c:ext>
            </c:extLst>
          </c:dPt>
          <c:dPt>
            <c:idx val="3"/>
            <c:invertIfNegative val="0"/>
            <c:bubble3D val="0"/>
            <c:spPr>
              <a:solidFill>
                <a:srgbClr val="558B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DB6-4D69-AC81-8DACDA1294A7}"/>
              </c:ext>
            </c:extLst>
          </c:dPt>
          <c:dPt>
            <c:idx val="4"/>
            <c:invertIfNegative val="0"/>
            <c:bubble3D val="0"/>
            <c:spPr>
              <a:solidFill>
                <a:srgbClr val="8B6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DB6-4D69-AC81-8DACDA1294A7}"/>
              </c:ext>
            </c:extLst>
          </c:dPt>
          <c:dPt>
            <c:idx val="5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DB6-4D69-AC81-8DACDA1294A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Data
Engineering</c:v>
                </c:pt>
                <c:pt idx="1">
                  <c:v>Data
Science</c:v>
                </c:pt>
                <c:pt idx="2">
                  <c:v>Data
Analytics</c:v>
                </c:pt>
                <c:pt idx="3">
                  <c:v>Machine
Learning</c:v>
                </c:pt>
                <c:pt idx="4">
                  <c:v>Managerial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175</c:v>
                </c:pt>
                <c:pt idx="1">
                  <c:v>160</c:v>
                </c:pt>
                <c:pt idx="2">
                  <c:v>135</c:v>
                </c:pt>
                <c:pt idx="3">
                  <c:v>73</c:v>
                </c:pt>
                <c:pt idx="4">
                  <c:v>30</c:v>
                </c:pt>
                <c:pt idx="5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DB6-4D69-AC81-8DACDA1294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6400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006400"/>
                </a:solidFill>
                <a:latin typeface="Arial"/>
              </a:rPr>
              <a:t>Book Genre Distribution (n=350)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6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1D0-48AC-A04B-7E9C8447F7F4}"/>
              </c:ext>
            </c:extLst>
          </c:dPt>
          <c:dPt>
            <c:idx val="1"/>
            <c:bubble3D val="0"/>
            <c:spPr>
              <a:solidFill>
                <a:srgbClr val="D4AF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D0-48AC-A04B-7E9C8447F7F4}"/>
              </c:ext>
            </c:extLst>
          </c:dPt>
          <c:dPt>
            <c:idx val="2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1D0-48AC-A04B-7E9C8447F7F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1D0-48AC-A04B-7E9C8447F7F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1D0-48AC-A04B-7E9C8447F7F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1D0-48AC-A04B-7E9C8447F7F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Non Fiction</c:v>
                </c:pt>
                <c:pt idx="1">
                  <c:v>Fiction</c:v>
                </c:pt>
                <c:pt idx="2">
                  <c:v>Childrens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179</c:v>
                </c:pt>
                <c:pt idx="1">
                  <c:v>131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1D0-48AC-A04B-7E9C8447F7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4F6F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64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6400"/>
                </a:solidFill>
                <a:latin typeface="Arial"/>
              </a:rPr>
              <a:t>Median Salary (USD) by Experience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Salary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F78-4808-8844-7AE21687D466}"/>
              </c:ext>
            </c:extLst>
          </c:dPt>
          <c:dPt>
            <c:idx val="1"/>
            <c:invertIfNegative val="0"/>
            <c:bubble3D val="0"/>
            <c:spPr>
              <a:solidFill>
                <a:srgbClr val="388E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F78-4808-8844-7AE21687D466}"/>
              </c:ext>
            </c:extLst>
          </c:dPt>
          <c:dPt>
            <c:idx val="2"/>
            <c:invertIfNegative val="0"/>
            <c:bubble3D val="0"/>
            <c:spPr>
              <a:solidFill>
                <a:srgbClr val="1A6B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F78-4808-8844-7AE21687D466}"/>
              </c:ext>
            </c:extLst>
          </c:dPt>
          <c:dPt>
            <c:idx val="3"/>
            <c:invertIfNegative val="0"/>
            <c:bubble3D val="0"/>
            <c:spPr>
              <a:solidFill>
                <a:srgbClr val="006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F78-4808-8844-7AE21687D4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Entry</c:v>
                </c:pt>
                <c:pt idx="1">
                  <c:v>Mid</c:v>
                </c:pt>
                <c:pt idx="2">
                  <c:v>Senior</c:v>
                </c:pt>
                <c:pt idx="3">
                  <c:v>Executive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55380</c:v>
                </c:pt>
                <c:pt idx="1">
                  <c:v>74174</c:v>
                </c:pt>
                <c:pt idx="2">
                  <c:v>128903</c:v>
                </c:pt>
                <c:pt idx="3">
                  <c:v>135439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F78-4808-8844-7AE21687D4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64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6400"/>
                </a:solidFill>
                <a:latin typeface="Arial"/>
              </a:rPr>
              <a:t>Salary Distribution (USD) — Right-Skewed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0064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36F-4554-818C-A615FF85916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36F-4554-818C-A615FF85916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36F-4554-818C-A615FF85916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36F-4554-818C-A615FF85916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36F-4554-818C-A615FF85916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36F-4554-818C-A615FF85916A}"/>
              </c:ext>
            </c:extLst>
          </c:dPt>
          <c:cat>
            <c:strRef>
              <c:f>Sheet1!$A$2:$A$7</c:f>
              <c:strCache>
                <c:ptCount val="6"/>
                <c:pt idx="0">
                  <c:v>0-50k</c:v>
                </c:pt>
                <c:pt idx="1">
                  <c:v>50-100k</c:v>
                </c:pt>
                <c:pt idx="2">
                  <c:v>100-150k</c:v>
                </c:pt>
                <c:pt idx="3">
                  <c:v>150-200k</c:v>
                </c:pt>
                <c:pt idx="4">
                  <c:v>200-250k</c:v>
                </c:pt>
                <c:pt idx="5">
                  <c:v>250k+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</c:v>
                </c:pt>
                <c:pt idx="1">
                  <c:v>190</c:v>
                </c:pt>
                <c:pt idx="2">
                  <c:v>155</c:v>
                </c:pt>
                <c:pt idx="3">
                  <c:v>80</c:v>
                </c:pt>
                <c:pt idx="4">
                  <c:v>20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36F-4554-818C-A615FF8591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789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25001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9587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9553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53089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9886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3989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5221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8173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7314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2298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63847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2741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783908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59013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11551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4336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41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185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70832"/>
            <a:ext cx="9144000" cy="777240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933" y="228600"/>
            <a:ext cx="1737360" cy="941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132588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228600" y="20574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228600" y="2834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IndabaX Zimbabwe  |  Deep Learning Community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28600" y="3246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Validation · Analysis · Visualization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28600" y="446227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 M Nyamutamba: Technical &amp; Community Impact Lead</a:t>
            </a:r>
            <a:endParaRPr lang="en-US" sz="16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Exploratory Data Analysis?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the process of </a:t>
            </a:r>
            <a:r>
              <a:rPr lang="en-US" sz="13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and cleaning data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derive insights and generate hypotheses.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56032" y="118872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56032" y="12801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01752" y="1901952"/>
            <a:ext cx="269748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2011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Insights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" y="2487168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hidden patterns, relationships, and trends in your dataset.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27832" y="118872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27832" y="12801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3273552" y="1901952"/>
            <a:ext cx="269748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9272" y="2011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Hypotheses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64992" y="2487168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testable questions to guide further modelling and investigation.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99632" y="118872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99632" y="12801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🧹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6245352" y="1901952"/>
            <a:ext cx="269748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1072" y="2011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36792" y="2487168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fix missing values, wrong data types, and outliers.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Missing Data a Problem?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822960"/>
            <a:ext cx="863193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822960"/>
            <a:ext cx="64008" cy="1234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14300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88720" y="91440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Distributions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298448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heights of taller students shifts the sample mean away from the true population mean — your statistics become unreliable.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" y="2240280"/>
            <a:ext cx="863193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" y="2240280"/>
            <a:ext cx="64008" cy="1234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256032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88720" y="233172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Representative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2715768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groups (e.g. oldest or highest-paid workers) are disproportionately absent, creating bias in your findings.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6032" y="3657600"/>
            <a:ext cx="863193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" y="3657600"/>
            <a:ext cx="64008" cy="1234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397764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188720" y="374904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Conclusions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4133088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incomplete data can lead to flawed insights and poor real-world decisions, undermining trust in your work.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Professionals' Job Dataset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used throughout this workshop — 8 columns, ~600 rows: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046720" cy="353872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Working_Year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the data was obtained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e.g. "Mid", "Senior"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Employment_Status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e.g. "FT", "PT"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of employment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Company_Size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label e.g. "S", "M", "L"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Remote_Working_Ratio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time working remotely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Salary_USD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in US dollars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for Missing Values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749808"/>
            <a:ext cx="3977640" cy="438912"/>
          </a:xfrm>
          <a:prstGeom prst="rect">
            <a:avLst/>
          </a:prstGeom>
          <a:solidFill>
            <a:srgbClr val="0D1F0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813816"/>
            <a:ext cx="3813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print(salaries.isna().sum())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56032" y="1261872"/>
            <a:ext cx="3977640" cy="3611880"/>
          </a:xfrm>
          <a:prstGeom prst="rect">
            <a:avLst/>
          </a:prstGeom>
          <a:solidFill>
            <a:srgbClr val="0D1F0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3898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Working_Year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063240" y="13898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063240" y="1783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21762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063240" y="21762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25694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Employment_Status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063240" y="256946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11480" y="29626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Employee_Location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063240" y="29626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1480" y="3355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Company_Size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063240" y="33558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148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Remote_Working_Ratio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06324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11480" y="41422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Salary_USD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063240" y="41422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462272" y="749808"/>
            <a:ext cx="4425696" cy="4123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590288" y="84124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90288" y="1216152"/>
            <a:ext cx="416052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90288" y="1325880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 .isna().sum() to count missing values per column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590288" y="1984248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Salary_USD has the most gaps (60) — needs careful imputation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590288" y="2642616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Company_Size is second highest (40)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90288" y="3300984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Columns with ≤5% missing can be safely dropped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90288" y="3959352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Heavier columns require statistical imputation instead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for Addressing Missing Data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4592" y="749808"/>
            <a:ext cx="28346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64592" y="749808"/>
            <a:ext cx="2834640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795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79552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Missing Values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144475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when ≤5% missing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74320" y="196596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 = len(df)*0.05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4320" y="2487168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dropna(subset=cols_to_drop)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6032" y="3017520"/>
            <a:ext cx="2651760" cy="1828800"/>
          </a:xfrm>
          <a:prstGeom prst="rect">
            <a:avLst/>
          </a:prstGeom>
          <a:solidFill>
            <a:srgbClr val="0D1F0D"/>
          </a:solidFill>
          <a:ln w="12700">
            <a:solidFill>
              <a:srgbClr val="0D1F0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3090672"/>
            <a:ext cx="2523744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= len(salaries)*0.05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salaries.dropna(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subset=cols_to_drop,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inplace=True)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3163824" y="749808"/>
            <a:ext cx="28346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63824" y="749808"/>
            <a:ext cx="2834640" cy="566928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55264" y="795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730752" y="79552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Summary Statistic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73552" y="144475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Fill NaN with mode/median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273552" y="196596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for categorical &amp; numeric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73552" y="2487168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fillna(col.mode()[0])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55264" y="3017520"/>
            <a:ext cx="2651760" cy="1828800"/>
          </a:xfrm>
          <a:prstGeom prst="rect">
            <a:avLst/>
          </a:prstGeom>
          <a:solidFill>
            <a:srgbClr val="0D1F0D"/>
          </a:solidFill>
          <a:ln w="12700">
            <a:solidFill>
              <a:srgbClr val="0D1F0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19272" y="3090672"/>
            <a:ext cx="2523744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cols_missing[:-1]: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df[col].fillna(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df[col].mode()[0],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inplace=True)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6163056" y="749808"/>
            <a:ext cx="28346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63056" y="749808"/>
            <a:ext cx="2834640" cy="56692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54496" y="795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729984" y="79552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by Sub-Group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272784" y="144475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Different groups → diff medians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72784" y="196596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Executive ≠ Entry salary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72784" y="2487168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groupby + transform + map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254496" y="3017520"/>
            <a:ext cx="2651760" cy="1828800"/>
          </a:xfrm>
          <a:prstGeom prst="rect">
            <a:avLst/>
          </a:prstGeom>
          <a:solidFill>
            <a:srgbClr val="0D1F0D"/>
          </a:solidFill>
          <a:ln w="12700">
            <a:solidFill>
              <a:srgbClr val="0D1F0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18504" y="3090672"/>
            <a:ext cx="2523744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df.groupby('Experience')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['Salary_USD'].median()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.to_dict()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df['Salary_USD'].fillna(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df['Experience'].map(d))</a:t>
            </a:r>
            <a:endParaRPr lang="en-US" sz="820" dirty="0"/>
          </a:p>
        </p:txBody>
      </p:sp>
      <p:sp>
        <p:nvSpPr>
          <p:cNvPr id="32" name="Text 29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&amp; Analysing Categorical Data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str.contains() + np.select() to create structured category columns from free-text: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56032" y="1097280"/>
            <a:ext cx="5120640" cy="3383280"/>
          </a:xfrm>
          <a:prstGeom prst="rect">
            <a:avLst/>
          </a:prstGeom>
          <a:solidFill>
            <a:srgbClr val="0D1F0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1161288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keyword patterns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47472" y="1357884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data_science = "Data Scientist|NLP"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47472" y="1554480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data_analyst = "Analyst|Analytics"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47472" y="1751076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ml_engineer  = "Machine Learning|AI"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47472" y="1947672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      = "Manager|Head|Director"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47472" y="2144268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47472" y="2340864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boolean conditions list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7472" y="2537460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conditions = [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47472" y="2734056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df['Desig'].str.contains(data_science),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47472" y="2930652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df['Desig'].str.contains(data_analyst),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47472" y="3127248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df['Desig'].str.contains(ml_engineer),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47472" y="3323844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df['Desig'].str.contains(manager)]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47472" y="3520440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47472" y="3717036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column with np.select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47472" y="3913632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df['Job_Category'] = np.select(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47472" y="4110228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conditions, job_categories,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47472" y="4306824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default="Other")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559552" y="1097280"/>
            <a:ext cx="3383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50992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Categories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650990" y="1627632"/>
            <a:ext cx="2512241" cy="30175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0" y="16550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(28%)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650992" y="2048256"/>
            <a:ext cx="2304288" cy="3017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0" y="20756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(26%)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650991" y="2468880"/>
            <a:ext cx="2150906" cy="30175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69280" y="24963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(22%)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650991" y="2889504"/>
            <a:ext cx="1634712" cy="301752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69280" y="29169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(12%)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650991" y="3310128"/>
            <a:ext cx="1096396" cy="30175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69280" y="33375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(5%)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 flipH="1">
            <a:off x="5681166" y="3730752"/>
            <a:ext cx="874492" cy="3017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69280" y="37581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(1%)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650991" y="4151376"/>
            <a:ext cx="1096396" cy="301752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69280" y="41788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(5%)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Numeric Data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777240"/>
            <a:ext cx="868680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960120"/>
            <a:ext cx="502920" cy="502920"/>
          </a:xfrm>
          <a:prstGeom prst="ellipse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822960"/>
            <a:ext cx="7726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Formatting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0120" y="1161288"/>
            <a:ext cx="5212080" cy="301752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1170432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df["Salary"]=df["Salary"].str.replace(",","")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63640" y="11612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commas from 20,688,070.00 → 20688070.00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28600" y="1828800"/>
            <a:ext cx="868680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011680"/>
            <a:ext cx="502920" cy="502920"/>
          </a:xfrm>
          <a:prstGeom prst="ellipse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1874520"/>
            <a:ext cx="7726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Data Type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60120" y="2212848"/>
            <a:ext cx="5212080" cy="301752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2221992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df["Salary"]=df["Salary"].astype(float)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263640" y="221284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cleaned string column to float64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28600" y="2880360"/>
            <a:ext cx="868680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" y="3063240"/>
            <a:ext cx="502920" cy="502920"/>
          </a:xfrm>
          <a:prstGeom prst="ellipse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0120" y="2926080"/>
            <a:ext cx="7726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Derived Column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60120" y="3264408"/>
            <a:ext cx="5212080" cy="301752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128" y="3273552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df["Salary_USD"]=df["Salary_INR"]*0.012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263640" y="32644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Indian Rupee = 0.012 USD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28600" y="3931920"/>
            <a:ext cx="868680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" y="4114800"/>
            <a:ext cx="502920" cy="502920"/>
          </a:xfrm>
          <a:prstGeom prst="ellipse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60120" y="3977640"/>
            <a:ext cx="7726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Group Statistics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60120" y="4315968"/>
            <a:ext cx="5212080" cy="301752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24128" y="4325112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df["std_dev"]=df.groupby("Experience")["Salary_USD"].transform(lambda x:x.std())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26364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group-level std to each row via transform()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Outliers with IQR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749808"/>
            <a:ext cx="2834640" cy="841248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78638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47472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75th Percentile − 25th Percentile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27832" y="749808"/>
            <a:ext cx="2834640" cy="8412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19272" y="78638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Outlier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19272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Q75 + (1.5 × IQR)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99632" y="749808"/>
            <a:ext cx="2834640" cy="84124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1072" y="78638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Outlier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91072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Q25 − (1.5 × IQR)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6032" y="1719072"/>
            <a:ext cx="5074920" cy="3172968"/>
          </a:xfrm>
          <a:prstGeom prst="rect">
            <a:avLst/>
          </a:prstGeom>
          <a:solidFill>
            <a:srgbClr val="0D1F0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" y="1783080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Calculate percentiles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47472" y="1979676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q75 = df["Salary_USD"].quantile(0.75)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47472" y="2176272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q25 = df["Salary_USD"].quantile(0.25)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47472" y="2372868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47472" y="2569464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Compute IQR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47472" y="2766060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q75 - q25   # 76305.0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47472" y="2962656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47472" y="3159252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Thresholds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47472" y="3355848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= q75 + (1.5*iqr)  # 251953.5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47472" y="3552444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 = q25 - (1.5*iqr)  # -53266.5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47472" y="3749040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47472" y="3945636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 outliers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47472" y="4142232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no_out = df[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47472" y="4338828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(df['Salary_USD'] &gt; lower) &amp;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47472" y="4535424"/>
            <a:ext cx="4910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(df['Salary_USD'] &lt; upper)]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532120" y="1719072"/>
            <a:ext cx="3383280" cy="3172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50992" y="18105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559552" y="2212848"/>
            <a:ext cx="1097280" cy="420624"/>
          </a:xfrm>
          <a:prstGeom prst="rect">
            <a:avLst/>
          </a:prstGeom>
          <a:solidFill>
            <a:srgbClr val="0064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675120" y="2212848"/>
            <a:ext cx="1097280" cy="420624"/>
          </a:xfrm>
          <a:prstGeom prst="rect">
            <a:avLst/>
          </a:prstGeom>
          <a:solidFill>
            <a:srgbClr val="0064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Outliers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790688" y="2212848"/>
            <a:ext cx="1097280" cy="420624"/>
          </a:xfrm>
          <a:prstGeom prst="rect">
            <a:avLst/>
          </a:prstGeom>
          <a:solidFill>
            <a:srgbClr val="0064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559552" y="2715768"/>
            <a:ext cx="1097280" cy="420624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675120" y="2715768"/>
            <a:ext cx="1097280" cy="420624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790688" y="2715768"/>
            <a:ext cx="1097280" cy="420624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509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559552" y="3218688"/>
            <a:ext cx="10972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675120" y="3218688"/>
            <a:ext cx="10972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$104,906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790688" y="3218688"/>
            <a:ext cx="10972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$100,675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559552" y="3721608"/>
            <a:ext cx="1097280" cy="420624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675120" y="3721608"/>
            <a:ext cx="1097280" cy="420624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$62,660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790688" y="3721608"/>
            <a:ext cx="1097280" cy="420624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$53,643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559552" y="4224528"/>
            <a:ext cx="10972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675120" y="4224528"/>
            <a:ext cx="10972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$429,675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790688" y="4224528"/>
            <a:ext cx="10972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$248,257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Exploration: First Steps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49808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1168" y="749808"/>
            <a:ext cx="4251960" cy="347472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0896" y="7863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.head()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0896" y="1161288"/>
            <a:ext cx="4041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first 5 rows — check column names, types, values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0896" y="1618488"/>
            <a:ext cx="4005072" cy="274320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62763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books.head()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81728" y="749808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749808"/>
            <a:ext cx="4251960" cy="347472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91456" y="7863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.info()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91456" y="1161288"/>
            <a:ext cx="4041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dtypes, null counts, memory usage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91456" y="1618488"/>
            <a:ext cx="4005072" cy="274320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62763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books.info()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01168" y="219456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01168" y="2194560"/>
            <a:ext cx="4251960" cy="347472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0896" y="22311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10896" y="2606040"/>
            <a:ext cx="4041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stats: count, mean, std, min, quartiles, max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10896" y="3063240"/>
            <a:ext cx="4005072" cy="274320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307238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books.describe()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681728" y="219456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81728" y="2194560"/>
            <a:ext cx="4251960" cy="347472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91456" y="22311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.value_counts()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91456" y="2606040"/>
            <a:ext cx="4041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count of each category in a column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91456" y="3063240"/>
            <a:ext cx="4005072" cy="274320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307238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books.value_counts("genre")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01168" y="3639312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01168" y="3639312"/>
            <a:ext cx="4251960" cy="347472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10896" y="36758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10896" y="4050792"/>
            <a:ext cx="4041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distribution of a numerical column with histogram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10896" y="4507992"/>
            <a:ext cx="4005072" cy="274320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451713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sns.histplot(data=books, x="rating")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681728" y="3639312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681728" y="3639312"/>
            <a:ext cx="4251960" cy="347472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36758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sns.boxplot()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791456" y="4050792"/>
            <a:ext cx="4041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median, IQR and outliers visually by group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791456" y="4507992"/>
            <a:ext cx="4005072" cy="274320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46320" y="451713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sns.boxplot(data=books,x="year",y="genre")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Techniques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49808"/>
            <a:ext cx="43434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1168" y="749808"/>
            <a:ext cx="4343400" cy="438912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79552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Validation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7472" y="12984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 .dtypes  •  Fix with .astype()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" y="1664208"/>
            <a:ext cx="1965960" cy="347472"/>
          </a:xfrm>
          <a:prstGeom prst="rect">
            <a:avLst/>
          </a:prstGeom>
          <a:solidFill>
            <a:srgbClr val="EFF3EC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95728" y="1664208"/>
            <a:ext cx="1463040" cy="347472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50592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" y="2139696"/>
            <a:ext cx="1965960" cy="347472"/>
          </a:xfrm>
          <a:prstGeom prst="rect">
            <a:avLst/>
          </a:prstGeom>
          <a:solidFill>
            <a:srgbClr val="EFF3EC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" y="2167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395728" y="2139696"/>
            <a:ext cx="1463040" cy="347472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50592" y="2167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7472" y="2615184"/>
            <a:ext cx="1965960" cy="347472"/>
          </a:xfrm>
          <a:prstGeom prst="rect">
            <a:avLst/>
          </a:prstGeom>
          <a:solidFill>
            <a:srgbClr val="EFF3EC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" y="2642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395728" y="2615184"/>
            <a:ext cx="1463040" cy="347472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50592" y="26426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47472" y="3090672"/>
            <a:ext cx="1965960" cy="347472"/>
          </a:xfrm>
          <a:prstGeom prst="rect">
            <a:avLst/>
          </a:prstGeom>
          <a:solidFill>
            <a:srgbClr val="EFF3EC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" y="3118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395728" y="3090672"/>
            <a:ext cx="1463040" cy="347472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50592" y="31181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47472" y="3566160"/>
            <a:ext cx="1965960" cy="347472"/>
          </a:xfrm>
          <a:prstGeom prst="rect">
            <a:avLst/>
          </a:prstGeom>
          <a:solidFill>
            <a:srgbClr val="EFF3EC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8912" y="3593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395728" y="3566160"/>
            <a:ext cx="1463040" cy="347472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450592" y="3593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47472" y="4041648"/>
            <a:ext cx="1965960" cy="347472"/>
          </a:xfrm>
          <a:prstGeom prst="rect">
            <a:avLst/>
          </a:prstGeom>
          <a:solidFill>
            <a:srgbClr val="EFF3EC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8912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395728" y="4041648"/>
            <a:ext cx="1463040" cy="347472"/>
          </a:xfrm>
          <a:prstGeom prst="rect">
            <a:avLst/>
          </a:prstGeom>
          <a:solidFill>
            <a:srgbClr val="1E2D1E"/>
          </a:solidFill>
          <a:ln w="12700">
            <a:solidFill>
              <a:srgbClr val="1E2D1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450592" y="4069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54880" y="749808"/>
            <a:ext cx="4187952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54880" y="749808"/>
            <a:ext cx="4187952" cy="438912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92040" y="7955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Range Validation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892040" y="12984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valid genres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892040" y="1554480"/>
            <a:ext cx="3931920" cy="384048"/>
          </a:xfrm>
          <a:prstGeom prst="rect">
            <a:avLst/>
          </a:prstGeom>
          <a:solidFill>
            <a:srgbClr val="0D1F0D"/>
          </a:solidFill>
          <a:ln w="12700">
            <a:solidFill>
              <a:srgbClr val="0D1F0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56048" y="1572768"/>
            <a:ext cx="3803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df["genre"].isin(["Fiction","Non Fiction"])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892040" y="20208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— find invalid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892040" y="2276856"/>
            <a:ext cx="3931920" cy="384048"/>
          </a:xfrm>
          <a:prstGeom prst="rect">
            <a:avLst/>
          </a:prstGeom>
          <a:solidFill>
            <a:srgbClr val="0D1F0D"/>
          </a:solidFill>
          <a:ln w="12700">
            <a:solidFill>
              <a:srgbClr val="0D1F0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56048" y="2295144"/>
            <a:ext cx="3803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~df["genre"].isin(["Fiction","Non Fiction"])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892040" y="27432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valid rows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892040" y="2999232"/>
            <a:ext cx="3931920" cy="384048"/>
          </a:xfrm>
          <a:prstGeom prst="rect">
            <a:avLst/>
          </a:prstGeom>
          <a:solidFill>
            <a:srgbClr val="0D1F0D"/>
          </a:solidFill>
          <a:ln w="12700">
            <a:solidFill>
              <a:srgbClr val="0D1F0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956048" y="3017520"/>
            <a:ext cx="3803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df[df["genre"].isin([...])]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892040" y="34655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bounds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892040" y="3721608"/>
            <a:ext cx="3931920" cy="384048"/>
          </a:xfrm>
          <a:prstGeom prst="rect">
            <a:avLst/>
          </a:prstGeom>
          <a:solidFill>
            <a:srgbClr val="0D1F0D"/>
          </a:solidFill>
          <a:ln w="12700">
            <a:solidFill>
              <a:srgbClr val="0D1F0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956048" y="3739896"/>
            <a:ext cx="3803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df["year"].min()  # 2009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df["year"].max()  # 2019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892040" y="41879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by group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892040" y="4443984"/>
            <a:ext cx="3931920" cy="384048"/>
          </a:xfrm>
          <a:prstGeom prst="rect">
            <a:avLst/>
          </a:prstGeom>
          <a:solidFill>
            <a:srgbClr val="0D1F0D"/>
          </a:solidFill>
          <a:ln w="12700">
            <a:solidFill>
              <a:srgbClr val="0D1F0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956048" y="4462272"/>
            <a:ext cx="3803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sns.boxplot(data=df,x="year",y="genre")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Summarization: groupby &amp; agg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Functions: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56032" y="1115568"/>
            <a:ext cx="2834640" cy="393192"/>
          </a:xfrm>
          <a:prstGeom prst="rect">
            <a:avLst/>
          </a:prstGeom>
          <a:solidFill>
            <a:srgbClr val="1E2D1E"/>
          </a:solidFill>
          <a:ln w="12700">
            <a:solidFill>
              <a:srgbClr val="2E4A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.sum()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27832" y="1115568"/>
            <a:ext cx="2834640" cy="393192"/>
          </a:xfrm>
          <a:prstGeom prst="rect">
            <a:avLst/>
          </a:prstGeom>
          <a:solidFill>
            <a:srgbClr val="1E2D1E"/>
          </a:solidFill>
          <a:ln w="12700">
            <a:solidFill>
              <a:srgbClr val="2E4A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19272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.count()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99632" y="1115568"/>
            <a:ext cx="2834640" cy="393192"/>
          </a:xfrm>
          <a:prstGeom prst="rect">
            <a:avLst/>
          </a:prstGeom>
          <a:solidFill>
            <a:srgbClr val="1E2D1E"/>
          </a:solidFill>
          <a:ln w="12700">
            <a:solidFill>
              <a:srgbClr val="2E4A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91072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.min()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6032" y="1591056"/>
            <a:ext cx="2834640" cy="393192"/>
          </a:xfrm>
          <a:prstGeom prst="rect">
            <a:avLst/>
          </a:prstGeom>
          <a:solidFill>
            <a:srgbClr val="1E2D1E"/>
          </a:solidFill>
          <a:ln w="12700">
            <a:solidFill>
              <a:srgbClr val="2E4A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1618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.max()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27832" y="1591056"/>
            <a:ext cx="2834640" cy="393192"/>
          </a:xfrm>
          <a:prstGeom prst="rect">
            <a:avLst/>
          </a:prstGeom>
          <a:solidFill>
            <a:srgbClr val="1E2D1E"/>
          </a:solidFill>
          <a:ln w="12700">
            <a:solidFill>
              <a:srgbClr val="2E4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9272" y="1618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.var()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99632" y="1591056"/>
            <a:ext cx="2834640" cy="393192"/>
          </a:xfrm>
          <a:prstGeom prst="rect">
            <a:avLst/>
          </a:prstGeom>
          <a:solidFill>
            <a:srgbClr val="1E2D1E"/>
          </a:solidFill>
          <a:ln w="12700">
            <a:solidFill>
              <a:srgbClr val="2E4A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91072" y="1618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.std()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56032" y="2066544"/>
            <a:ext cx="2834640" cy="393192"/>
          </a:xfrm>
          <a:prstGeom prst="rect">
            <a:avLst/>
          </a:prstGeom>
          <a:solidFill>
            <a:srgbClr val="1E2D1E"/>
          </a:solidFill>
          <a:ln w="12700">
            <a:solidFill>
              <a:srgbClr val="2E4A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20939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.mean()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27832" y="2066544"/>
            <a:ext cx="2834640" cy="393192"/>
          </a:xfrm>
          <a:prstGeom prst="rect">
            <a:avLst/>
          </a:prstGeom>
          <a:solidFill>
            <a:srgbClr val="1E2D1E"/>
          </a:solidFill>
          <a:ln w="12700">
            <a:solidFill>
              <a:srgbClr val="2E4A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19272" y="20939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.median()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99632" y="2066544"/>
            <a:ext cx="2834640" cy="393192"/>
          </a:xfrm>
          <a:prstGeom prst="rect">
            <a:avLst/>
          </a:prstGeom>
          <a:solidFill>
            <a:srgbClr val="1E2D1E"/>
          </a:solidFill>
          <a:ln w="12700">
            <a:solidFill>
              <a:srgbClr val="2E4A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91072" y="20939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.agg()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56032" y="2670048"/>
            <a:ext cx="4434840" cy="2331720"/>
          </a:xfrm>
          <a:prstGeom prst="rect">
            <a:avLst/>
          </a:prstGeom>
          <a:solidFill>
            <a:srgbClr val="0D1F0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" y="2734056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Named aggregations per group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47472" y="2930652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books.groupby('genre').agg(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47472" y="3127248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mean_rating=('rating','mean'),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47472" y="3323844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std_rating =('rating','std'),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47472" y="3520440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median_year=('year','median')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47472" y="3717036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47472" y="3913632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47472" y="4110228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Visualise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47472" y="4306824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sns.barplot(data=books,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347472" y="4503420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x='genre', y='rating')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892040" y="2670048"/>
            <a:ext cx="40416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29200" y="2743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919472" y="3108960"/>
            <a:ext cx="969264" cy="402336"/>
          </a:xfrm>
          <a:prstGeom prst="rect">
            <a:avLst/>
          </a:prstGeom>
          <a:solidFill>
            <a:srgbClr val="0064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907024" y="3108960"/>
            <a:ext cx="969264" cy="402336"/>
          </a:xfrm>
          <a:prstGeom prst="rect">
            <a:avLst/>
          </a:prstGeom>
          <a:solidFill>
            <a:srgbClr val="0064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894576" y="3108960"/>
            <a:ext cx="969264" cy="402336"/>
          </a:xfrm>
          <a:prstGeom prst="rect">
            <a:avLst/>
          </a:prstGeom>
          <a:solidFill>
            <a:srgbClr val="0064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882128" y="3108960"/>
            <a:ext cx="969264" cy="402336"/>
          </a:xfrm>
          <a:prstGeom prst="rect">
            <a:avLst/>
          </a:prstGeom>
          <a:solidFill>
            <a:srgbClr val="0064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Year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919472" y="3584448"/>
            <a:ext cx="969264" cy="402336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907024" y="3584448"/>
            <a:ext cx="969264" cy="402336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4.780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894576" y="3584448"/>
            <a:ext cx="969264" cy="402336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0.122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882128" y="3584448"/>
            <a:ext cx="969264" cy="402336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919472" y="4059936"/>
            <a:ext cx="969264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907024" y="4059936"/>
            <a:ext cx="969264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4.570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94576" y="4059936"/>
            <a:ext cx="969264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0.281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882128" y="4059936"/>
            <a:ext cx="969264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919472" y="4535424"/>
            <a:ext cx="969264" cy="402336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Fiction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907024" y="4535424"/>
            <a:ext cx="969264" cy="402336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4.598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894576" y="4535424"/>
            <a:ext cx="969264" cy="402336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0.179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882128" y="4535424"/>
            <a:ext cx="969264" cy="402336"/>
          </a:xfrm>
          <a:prstGeom prst="rect">
            <a:avLst/>
          </a:prstGeom>
          <a:solidFill>
            <a:srgbClr val="EFF3E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74320"/>
            <a:ext cx="1737360" cy="941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11887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Visualising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228600" y="19202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of Data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228600" y="283464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· Pie Chart · Box Plot · Histogram · Heatmap · Count Plot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8600" y="324612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essential plot types with code + when to use them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28600" y="446227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IndabaX Zimbabwe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1 of 5  —  Bar Chart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counts or means across discrete categories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27832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27832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9272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19272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X-axis, numerical Y-axis (counts, averages)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27064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27064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18504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When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18504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categories (&gt;15) — use horizontal bars instead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8600" y="1737360"/>
            <a:ext cx="3657600" cy="2606040"/>
          </a:xfrm>
          <a:prstGeom prst="rect">
            <a:avLst/>
          </a:prstGeom>
          <a:solidFill>
            <a:srgbClr val="0D1F0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180136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0040" y="199796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0040" y="219456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20040" y="239115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plot (auto-counts)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20040" y="258775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sns.countplot(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20040" y="278434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data=salaries,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20040" y="298094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x="Job_Category",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20040" y="317754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palette="Greens_d")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20040" y="337413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plt.title('Jobs by Category')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20040" y="357073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plt.xticks(rotation=30)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20040" y="376732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20040" y="396392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850" dirty="0"/>
          </a:p>
        </p:txBody>
      </p:sp>
      <p:graphicFrame>
        <p:nvGraphicFramePr>
          <p:cNvPr id="30" name="Chart 0"/>
          <p:cNvGraphicFramePr/>
          <p:nvPr>
            <p:extLst>
              <p:ext uri="{D42A27DB-BD31-4B8C-83A1-F6EECF244321}">
                <p14:modId xmlns:p14="http://schemas.microsoft.com/office/powerpoint/2010/main" val="3256381102"/>
              </p:ext>
            </p:extLst>
          </p:nvPr>
        </p:nvGraphicFramePr>
        <p:xfrm>
          <a:off x="4069080" y="1627632"/>
          <a:ext cx="4892040" cy="285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Shape 27"/>
          <p:cNvSpPr/>
          <p:nvPr/>
        </p:nvSpPr>
        <p:spPr>
          <a:xfrm>
            <a:off x="228600" y="4453128"/>
            <a:ext cx="873252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A8D8A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47472" y="448056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Use sns.barplot() when plotting a mean/aggregate (adds confidence intervals automatically). Use sns.countplot() for raw frequency counts.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2 of 5  —  Pie / Donut Chart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part-to-whole proportions for a small number of categories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27832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27832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9272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19272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 distinct categories where relative share is the key message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27064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27064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18504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When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18504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slices or small differences — bar charts show differences more clearly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8600" y="1737360"/>
            <a:ext cx="3657600" cy="2606040"/>
          </a:xfrm>
          <a:prstGeom prst="rect">
            <a:avLst/>
          </a:prstGeom>
          <a:solidFill>
            <a:srgbClr val="0D1F0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180136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Matplotlib pie chart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0040" y="199796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0040" y="219456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20040" y="239115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['Non Fiction','Fiction',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20040" y="258775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'Childrens']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20040" y="278434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sizes  = [179, 131, 40]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20040" y="298094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 = ['#006400','#D4AF37',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20040" y="317754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'#C8102E']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20040" y="337413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20040" y="357073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plt.pie(sizes, labels=labels,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20040" y="376732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colors=colors,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20040" y="396392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autopct='%1.1f%%',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20040" y="416052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startangle=90)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20040" y="435711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plt.title('Genre Breakdown')</a:t>
            </a:r>
            <a:endParaRPr lang="en-US" sz="85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4069080" y="1737360"/>
          <a:ext cx="48920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Shape 29"/>
          <p:cNvSpPr/>
          <p:nvPr/>
        </p:nvSpPr>
        <p:spPr>
          <a:xfrm>
            <a:off x="228600" y="4453128"/>
            <a:ext cx="87325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47472" y="448056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Pie charts work best with 3–5 slices. For more categories, a bar chart is easier to read. Avoid 3-D pies — they distort the actual proportions.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3 of 5  —  Box Plot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median, spread (IQR), and outliers across category groups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27832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27832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9272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19272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 numeric variable across 2 or more categorical groups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27064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27064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18504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When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18504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datasets (&lt;20 points) — a strip/swarm plot is more honest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8600" y="1737360"/>
            <a:ext cx="3657600" cy="2606040"/>
          </a:xfrm>
          <a:prstGeom prst="rect">
            <a:avLst/>
          </a:prstGeom>
          <a:solidFill>
            <a:srgbClr val="0D1F0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180136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Box plot — salary by experience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0040" y="199796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0040" y="219456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data=salaries,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20040" y="239115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x="Experience",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20040" y="258775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y="Salary_USD",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20040" y="278434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order=["Entry","Mid",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20040" y="298094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"Senior","Executive"],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20040" y="317754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palette="Greens")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20040" y="337413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plt.title('Salary by Experience')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20040" y="357073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plt.ylabel('Salary (USD)')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20040" y="376732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20040" y="396392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85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4069080" y="1737360"/>
          <a:ext cx="48920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Shape 27"/>
          <p:cNvSpPr/>
          <p:nvPr/>
        </p:nvSpPr>
        <p:spPr>
          <a:xfrm>
            <a:off x="228600" y="4453128"/>
            <a:ext cx="873252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A8D8A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47472" y="448056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Box anatomy: Centre line = median  |  Box edges = Q25 &amp; Q75 (IQR)  |  Whiskers = 1.5×IQR  |  Dots = outliers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4 of 5  —  Histogram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 frequency distribution of a single continuous variable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27832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27832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9272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19272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data — check for skew, gaps, bimodal peaks, or outliers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27064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27064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18504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When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18504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data — use countplot or bar chart instead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8600" y="1737360"/>
            <a:ext cx="3657600" cy="2606040"/>
          </a:xfrm>
          <a:prstGeom prst="rect">
            <a:avLst/>
          </a:prstGeom>
          <a:solidFill>
            <a:srgbClr val="0D1F0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180136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histogram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0040" y="199796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0040" y="219456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data=salaries,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20040" y="239115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x="Salary_USD",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20040" y="258775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binwidth=10000,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20040" y="278434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color="#006400",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20040" y="298094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kde=True)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20040" y="317754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20040" y="337413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Overlay two groups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20040" y="357073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20040" y="376732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data=salaries,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20040" y="396392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x="Salary_USD",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20040" y="416052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hue="Experience",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20040" y="435711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kde=True)</a:t>
            </a:r>
            <a:endParaRPr lang="en-US" sz="85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4069080" y="1737360"/>
          <a:ext cx="48920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Shape 29"/>
          <p:cNvSpPr/>
          <p:nvPr/>
        </p:nvSpPr>
        <p:spPr>
          <a:xfrm>
            <a:off x="228600" y="4453128"/>
            <a:ext cx="873252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A8D8A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47472" y="448056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Reading histograms: Right-skewed → mean &gt; median (high-earner outliers pull average up). Use kde=True to overlay a smooth density curve for shape clarity.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5 of 5  —  Heatmap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correlations or patterns between multiple numeric variables at once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27832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27832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9272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19272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matrices, cross-tabulations, pivot tables, or time × category data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27064" y="749808"/>
            <a:ext cx="2834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27064" y="749808"/>
            <a:ext cx="2834640" cy="29260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18504" y="777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When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18504" y="10789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variables (≤3) — a scatter plot or bar chart is simpler and clearer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8600" y="1737360"/>
            <a:ext cx="3657600" cy="2606040"/>
          </a:xfrm>
          <a:prstGeom prst="rect">
            <a:avLst/>
          </a:prstGeom>
          <a:solidFill>
            <a:srgbClr val="0D1F0D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180136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Correlation heatmap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0040" y="199796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0040" y="219456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20040" y="239115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 = salaries[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20040" y="258775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['Salary_USD',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20040" y="278434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'Remote_Working_Ratio',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20040" y="298094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'Working_Year']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20040" y="317754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].corr()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20040" y="337413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20040" y="357073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sns.heatmap(corr,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20040" y="376732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annot=True,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20040" y="396392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cmap='Greens',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20040" y="416052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fmt='.2f',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20040" y="435711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linewidths=0.5)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069080" y="1737360"/>
            <a:ext cx="48920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0624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133088" y="22402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Salary_USD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33088" y="288036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Remote_Ratio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133088" y="352044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Working_Year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852160" y="2084832"/>
            <a:ext cx="941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Salary_USD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6812280" y="2084832"/>
            <a:ext cx="941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Remote_Ratio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7772400" y="2084832"/>
            <a:ext cx="941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Working_Year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870448" y="2267712"/>
            <a:ext cx="932688" cy="512064"/>
          </a:xfrm>
          <a:prstGeom prst="rect">
            <a:avLst/>
          </a:prstGeom>
          <a:solidFill>
            <a:srgbClr val="006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70448" y="2267712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830568" y="2267712"/>
            <a:ext cx="932688" cy="512064"/>
          </a:xfrm>
          <a:prstGeom prst="rect">
            <a:avLst/>
          </a:prstGeom>
          <a:solidFill>
            <a:srgbClr val="81C7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30568" y="2267712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7790688" y="2267712"/>
            <a:ext cx="932688" cy="512064"/>
          </a:xfrm>
          <a:prstGeom prst="rect">
            <a:avLst/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90688" y="2267712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870448" y="2907792"/>
            <a:ext cx="932688" cy="512064"/>
          </a:xfrm>
          <a:prstGeom prst="rect">
            <a:avLst/>
          </a:prstGeom>
          <a:solidFill>
            <a:srgbClr val="81C7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870448" y="2907792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830568" y="2907792"/>
            <a:ext cx="932688" cy="512064"/>
          </a:xfrm>
          <a:prstGeom prst="rect">
            <a:avLst/>
          </a:prstGeom>
          <a:solidFill>
            <a:srgbClr val="006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830568" y="2907792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7790688" y="2907792"/>
            <a:ext cx="932688" cy="512064"/>
          </a:xfrm>
          <a:prstGeom prst="rect">
            <a:avLst/>
          </a:prstGeom>
          <a:solidFill>
            <a:srgbClr val="FFC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790688" y="2907792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5870448" y="3547872"/>
            <a:ext cx="932688" cy="512064"/>
          </a:xfrm>
          <a:prstGeom prst="rect">
            <a:avLst/>
          </a:prstGeom>
          <a:solidFill>
            <a:srgbClr val="C8E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870448" y="3547872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6830568" y="3547872"/>
            <a:ext cx="932688" cy="512064"/>
          </a:xfrm>
          <a:prstGeom prst="rect">
            <a:avLst/>
          </a:prstGeom>
          <a:solidFill>
            <a:srgbClr val="FFC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30568" y="3547872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7790688" y="3547872"/>
            <a:ext cx="932688" cy="512064"/>
          </a:xfrm>
          <a:prstGeom prst="rect">
            <a:avLst/>
          </a:prstGeom>
          <a:solidFill>
            <a:srgbClr val="006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790688" y="3547872"/>
            <a:ext cx="9326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228600" y="4453128"/>
            <a:ext cx="87325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47472" y="448056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 Colour scale: dark green = strong positive correlation (+1.0) → white = no correlation (0) → red = negative correlation (-1.0). Values close to 0 mean the variables are independent.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Chart — Quick Reference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73152"/>
            <a:ext cx="960120" cy="521208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49808"/>
          <a:ext cx="8366760" cy="4169664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Chart 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 Shape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Use When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Seaborn / Matplotlib Code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vs 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counts / means across categories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6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sns.countplot() / sns.barplot()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/ Donut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Part-to-Whole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proportions (≤5 groups)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6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plt.pie() / sns.plot(kind='pie')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Plot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+ 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Distribution, median &amp; outliers per group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6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sns.boxplot()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distribution, detect skew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6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sns.histplot()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× Numeric grid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Correlations or pivot table patterns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6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sns.heatmap()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Plot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Numeric Variables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/ correlation between two cols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6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sns.scatterplot()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over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Trends, changes over ordered sequence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6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sns.lineplot()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4592"/>
            <a:ext cx="1280160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1645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56032" y="694944"/>
            <a:ext cx="201168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" y="896112"/>
            <a:ext cx="4206240" cy="1024128"/>
          </a:xfrm>
          <a:prstGeom prst="rect">
            <a:avLst/>
          </a:prstGeom>
          <a:solidFill>
            <a:srgbClr val="1A4A1A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0896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1248" y="987552"/>
            <a:ext cx="34564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explore first — .head(), .info(), .describe() before you touch the data.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27448" y="896112"/>
            <a:ext cx="4206240" cy="1024128"/>
          </a:xfrm>
          <a:prstGeom prst="rect">
            <a:avLst/>
          </a:prstGeom>
          <a:solidFill>
            <a:srgbClr val="1A4A1A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37176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67528" y="987552"/>
            <a:ext cx="34564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deliberately: drop ≤5%, impute by stat or sub-group but </a:t>
            </a:r>
            <a:r>
              <a:rPr lang="en-US" sz="1000" dirty="0" err="1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consultate</a:t>
            </a:r>
            <a:r>
              <a:rPr lang="en-US" sz="10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data manager first.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01168" y="2039112"/>
            <a:ext cx="4206240" cy="1024128"/>
          </a:xfrm>
          <a:prstGeom prst="rect">
            <a:avLst/>
          </a:prstGeom>
          <a:solidFill>
            <a:srgbClr val="1A4A1A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0896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41248" y="2130552"/>
            <a:ext cx="34564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str.contains() + np.select() to convert free-text to structured categories.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27448" y="2039112"/>
            <a:ext cx="4206240" cy="1024128"/>
          </a:xfrm>
          <a:prstGeom prst="rect">
            <a:avLst/>
          </a:prstGeom>
          <a:solidFill>
            <a:srgbClr val="1A4A1A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37176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367528" y="2130552"/>
            <a:ext cx="34564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numeric strings with str.replace() + astype() before any calculation.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01168" y="3182112"/>
            <a:ext cx="4206240" cy="1024128"/>
          </a:xfrm>
          <a:prstGeom prst="rect">
            <a:avLst/>
          </a:prstGeom>
          <a:solidFill>
            <a:srgbClr val="1A4A1A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0896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41248" y="3273552"/>
            <a:ext cx="34564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 with IQR thresholds; decide keep or remove based on context.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27448" y="3182112"/>
            <a:ext cx="4206240" cy="1024128"/>
          </a:xfrm>
          <a:prstGeom prst="rect">
            <a:avLst/>
          </a:prstGeom>
          <a:solidFill>
            <a:srgbClr val="1A4A1A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37176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367528" y="3273552"/>
            <a:ext cx="34564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chart to your data: bar=categories, histogram=distribution, heatmap=correlations.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56032" y="44622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IndabaX Zimbabwe  |  Deep Learning for Africa</a:t>
            </a:r>
            <a:endParaRPr lang="en-US" sz="20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17</TotalTime>
  <Words>2477</Words>
  <Application>Microsoft Office PowerPoint</Application>
  <PresentationFormat>On-screen Show (16:9)</PresentationFormat>
  <Paragraphs>480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Gothic</vt:lpstr>
      <vt:lpstr>Consolas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in Python - IndabaX Zimbabwe</dc:title>
  <dc:subject>PptxGenJS Presentation</dc:subject>
  <dc:creator>PptxGenJS</dc:creator>
  <cp:lastModifiedBy>WALTER NYAMUTAMBA</cp:lastModifiedBy>
  <cp:revision>2</cp:revision>
  <dcterms:created xsi:type="dcterms:W3CDTF">2026-06-03T19:32:31Z</dcterms:created>
  <dcterms:modified xsi:type="dcterms:W3CDTF">2026-06-03T20:01:27Z</dcterms:modified>
</cp:coreProperties>
</file>